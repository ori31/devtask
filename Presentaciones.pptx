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706840" y="109692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ctr" defTabSz="914400">
              <a:lnSpc>
                <a:spcPct val="90000"/>
              </a:lnSpc>
              <a:buNone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Haz clic para modificar el estilo de título del patrón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3" name="Rectángulo 6"/>
          <p:cNvSpPr/>
          <p:nvPr/>
        </p:nvSpPr>
        <p:spPr>
          <a:xfrm>
            <a:off x="0" y="6440400"/>
            <a:ext cx="12191760" cy="417240"/>
          </a:xfrm>
          <a:prstGeom prst="rect">
            <a:avLst/>
          </a:prstGeom>
          <a:solidFill>
            <a:srgbClr val="25204E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M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10108080" y="6440400"/>
            <a:ext cx="1245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AC5F76-F893-4409-A2CB-0185E43B4506}" type="slidenum">
              <a: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Imagen 12"/>
          <p:cNvPicPr/>
          <p:nvPr/>
        </p:nvPicPr>
        <p:blipFill>
          <a:blip r:embed="rId2"/>
          <a:stretch/>
        </p:blipFill>
        <p:spPr>
          <a:xfrm>
            <a:off x="838080" y="310320"/>
            <a:ext cx="1868040" cy="186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Click to edit the outline text format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Second Outline Level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Third Outline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Fifth Outline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Sixth Outline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Seventh Outline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Haz clic para modificar el estilo de título del patrón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9" name="Rectángulo 7"/>
          <p:cNvSpPr/>
          <p:nvPr/>
        </p:nvSpPr>
        <p:spPr>
          <a:xfrm>
            <a:off x="0" y="6440400"/>
            <a:ext cx="12191760" cy="417240"/>
          </a:xfrm>
          <a:prstGeom prst="rect">
            <a:avLst/>
          </a:prstGeom>
          <a:solidFill>
            <a:srgbClr val="25204E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M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2"/>
          </p:nvPr>
        </p:nvSpPr>
        <p:spPr>
          <a:xfrm>
            <a:off x="10525680" y="6466680"/>
            <a:ext cx="8280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0F6D6E-6E2D-4F1D-B047-85CA37EF12A1}" type="slidenum">
              <a: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" name="Imagen 9"/>
          <p:cNvPicPr/>
          <p:nvPr/>
        </p:nvPicPr>
        <p:blipFill>
          <a:blip r:embed="rId2"/>
          <a:stretch/>
        </p:blipFill>
        <p:spPr>
          <a:xfrm>
            <a:off x="10939680" y="5674680"/>
            <a:ext cx="348120" cy="343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s-MX" sz="36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36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Haz clic para modificar el estilo de título del patrón</a:t>
            </a:r>
            <a:endParaRPr lang="es-MX" sz="36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MX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Montserrat"/>
              </a:rPr>
              <a:t>Haga clic para modificar los estilos de texto del patrón</a:t>
            </a:r>
            <a:endParaRPr lang="es-MX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4" name="Rectángulo 6"/>
          <p:cNvSpPr/>
          <p:nvPr/>
        </p:nvSpPr>
        <p:spPr>
          <a:xfrm>
            <a:off x="0" y="6440400"/>
            <a:ext cx="12191760" cy="417240"/>
          </a:xfrm>
          <a:prstGeom prst="rect">
            <a:avLst/>
          </a:prstGeom>
          <a:solidFill>
            <a:srgbClr val="25204E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M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Imagen 7"/>
          <p:cNvPicPr/>
          <p:nvPr/>
        </p:nvPicPr>
        <p:blipFill>
          <a:blip r:embed="rId2"/>
          <a:stretch/>
        </p:blipFill>
        <p:spPr>
          <a:xfrm>
            <a:off x="10939680" y="5674680"/>
            <a:ext cx="348120" cy="34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3"/>
          <p:cNvSpPr>
            <a:spLocks noGrp="1"/>
          </p:cNvSpPr>
          <p:nvPr>
            <p:ph type="sldNum" idx="3"/>
          </p:nvPr>
        </p:nvSpPr>
        <p:spPr>
          <a:xfrm>
            <a:off x="8604360" y="64404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F0C6BE-544A-4683-854A-68FE5090CB70}" type="slidenum">
              <a: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s-MX" sz="36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36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Haz clic para modificar el estilo de título del patrón</a:t>
            </a:r>
            <a:endParaRPr lang="es-MX" sz="36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20" name="Rectángulo 7"/>
          <p:cNvSpPr/>
          <p:nvPr/>
        </p:nvSpPr>
        <p:spPr>
          <a:xfrm>
            <a:off x="0" y="6440400"/>
            <a:ext cx="12191760" cy="417240"/>
          </a:xfrm>
          <a:prstGeom prst="rect">
            <a:avLst/>
          </a:prstGeom>
          <a:solidFill>
            <a:srgbClr val="25204E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M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" name="Imagen 8"/>
          <p:cNvPicPr/>
          <p:nvPr/>
        </p:nvPicPr>
        <p:blipFill>
          <a:blip r:embed="rId2"/>
          <a:stretch/>
        </p:blipFill>
        <p:spPr>
          <a:xfrm>
            <a:off x="10939680" y="5674680"/>
            <a:ext cx="348120" cy="34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4"/>
          <p:cNvSpPr>
            <a:spLocks noGrp="1"/>
          </p:cNvSpPr>
          <p:nvPr>
            <p:ph type="sldNum" idx="4"/>
          </p:nvPr>
        </p:nvSpPr>
        <p:spPr>
          <a:xfrm>
            <a:off x="8604360" y="64404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3A9632-4C37-4AD0-942C-5DB38F89718C}" type="slidenum">
              <a: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s-MX" sz="36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36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Haz clic para modificar el estilo de título del patrón</a:t>
            </a:r>
            <a:endParaRPr lang="es-MX" sz="36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MX" sz="2400" b="1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Haga clic para modificar los estilos de texto del patrón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MX" sz="2400" b="1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Haga clic para modificar los estilos de texto del patrón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28" name="Rectángulo 9"/>
          <p:cNvSpPr/>
          <p:nvPr/>
        </p:nvSpPr>
        <p:spPr>
          <a:xfrm>
            <a:off x="0" y="6440400"/>
            <a:ext cx="12191760" cy="417240"/>
          </a:xfrm>
          <a:prstGeom prst="rect">
            <a:avLst/>
          </a:prstGeom>
          <a:solidFill>
            <a:srgbClr val="25204E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M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" name="Imagen 10"/>
          <p:cNvPicPr/>
          <p:nvPr/>
        </p:nvPicPr>
        <p:blipFill>
          <a:blip r:embed="rId2"/>
          <a:stretch/>
        </p:blipFill>
        <p:spPr>
          <a:xfrm>
            <a:off x="10939680" y="5674680"/>
            <a:ext cx="348120" cy="34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6"/>
          <p:cNvSpPr>
            <a:spLocks noGrp="1"/>
          </p:cNvSpPr>
          <p:nvPr>
            <p:ph type="sldNum" idx="5"/>
          </p:nvPr>
        </p:nvSpPr>
        <p:spPr>
          <a:xfrm>
            <a:off x="8604360" y="64404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C796B6-0A05-4BFC-8199-52D434C74BA5}" type="slidenum">
              <a: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44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Haz clic para modificar el estilo de título del patrón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32" name="Rectángulo 5"/>
          <p:cNvSpPr/>
          <p:nvPr/>
        </p:nvSpPr>
        <p:spPr>
          <a:xfrm>
            <a:off x="0" y="6440400"/>
            <a:ext cx="12191760" cy="417240"/>
          </a:xfrm>
          <a:prstGeom prst="rect">
            <a:avLst/>
          </a:prstGeom>
          <a:solidFill>
            <a:srgbClr val="25204E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M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3" name="Imagen 6"/>
          <p:cNvPicPr/>
          <p:nvPr/>
        </p:nvPicPr>
        <p:blipFill>
          <a:blip r:embed="rId2"/>
          <a:stretch/>
        </p:blipFill>
        <p:spPr>
          <a:xfrm>
            <a:off x="10939680" y="5674680"/>
            <a:ext cx="348120" cy="34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2"/>
          <p:cNvSpPr>
            <a:spLocks noGrp="1"/>
          </p:cNvSpPr>
          <p:nvPr>
            <p:ph type="sldNum" idx="6"/>
          </p:nvPr>
        </p:nvSpPr>
        <p:spPr>
          <a:xfrm>
            <a:off x="8604360" y="64404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B87B3B-5631-4983-ACB0-9392573A5E53}" type="slidenum">
              <a: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4"/>
          <p:cNvSpPr/>
          <p:nvPr/>
        </p:nvSpPr>
        <p:spPr>
          <a:xfrm>
            <a:off x="0" y="6440400"/>
            <a:ext cx="12191760" cy="417240"/>
          </a:xfrm>
          <a:prstGeom prst="rect">
            <a:avLst/>
          </a:prstGeom>
          <a:solidFill>
            <a:srgbClr val="25204E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M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Imagen 5"/>
          <p:cNvPicPr/>
          <p:nvPr/>
        </p:nvPicPr>
        <p:blipFill>
          <a:blip r:embed="rId2"/>
          <a:stretch/>
        </p:blipFill>
        <p:spPr>
          <a:xfrm>
            <a:off x="10939680" y="5674680"/>
            <a:ext cx="348120" cy="34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sldNum" idx="7"/>
          </p:nvPr>
        </p:nvSpPr>
        <p:spPr>
          <a:xfrm>
            <a:off x="8604360" y="64404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E35B50-84A3-4AFD-B550-DD8E185440DE}" type="slidenum">
              <a: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Haz clic para modificar el estilo de título del patrón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Haga clic para modificar los estilos de texto del patrón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Segundo nivel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Tercer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Quinto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MX" sz="16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Haga clic para modificar los estilos de texto del patrón</a:t>
            </a:r>
            <a:endParaRPr lang="es-MX" sz="16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41" name="Rectángulo 7"/>
          <p:cNvSpPr/>
          <p:nvPr/>
        </p:nvSpPr>
        <p:spPr>
          <a:xfrm>
            <a:off x="0" y="6440400"/>
            <a:ext cx="12191760" cy="417240"/>
          </a:xfrm>
          <a:prstGeom prst="rect">
            <a:avLst/>
          </a:prstGeom>
          <a:solidFill>
            <a:srgbClr val="25204E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M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2" name="Imagen 8"/>
          <p:cNvPicPr/>
          <p:nvPr/>
        </p:nvPicPr>
        <p:blipFill>
          <a:blip r:embed="rId2"/>
          <a:stretch/>
        </p:blipFill>
        <p:spPr>
          <a:xfrm>
            <a:off x="10939680" y="5674680"/>
            <a:ext cx="348120" cy="34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4"/>
          <p:cNvSpPr>
            <a:spLocks noGrp="1"/>
          </p:cNvSpPr>
          <p:nvPr>
            <p:ph type="sldNum" idx="8"/>
          </p:nvPr>
        </p:nvSpPr>
        <p:spPr>
          <a:xfrm>
            <a:off x="8604360" y="64404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F540D3-167C-4D58-A021-82CD088D249D}" type="slidenum">
              <a: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Haz clic para modificar el estilo de título del patrón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Haz clic en el icono para agregar una imagen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MX" sz="16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Haga clic para modificar los estilos de texto del patrón</a:t>
            </a:r>
            <a:endParaRPr lang="es-MX" sz="16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47" name="Rectángulo 7"/>
          <p:cNvSpPr/>
          <p:nvPr/>
        </p:nvSpPr>
        <p:spPr>
          <a:xfrm>
            <a:off x="0" y="6440400"/>
            <a:ext cx="12191760" cy="417240"/>
          </a:xfrm>
          <a:prstGeom prst="rect">
            <a:avLst/>
          </a:prstGeom>
          <a:solidFill>
            <a:srgbClr val="25204E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M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8" name="Imagen 8"/>
          <p:cNvPicPr/>
          <p:nvPr/>
        </p:nvPicPr>
        <p:blipFill>
          <a:blip r:embed="rId2"/>
          <a:stretch/>
        </p:blipFill>
        <p:spPr>
          <a:xfrm>
            <a:off x="10939680" y="5674680"/>
            <a:ext cx="348120" cy="34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4"/>
          <p:cNvSpPr>
            <a:spLocks noGrp="1"/>
          </p:cNvSpPr>
          <p:nvPr>
            <p:ph type="sldNum" idx="9"/>
          </p:nvPr>
        </p:nvSpPr>
        <p:spPr>
          <a:xfrm>
            <a:off x="8604360" y="64404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17FA40-B7D8-47D1-A81C-B40A9135B2CB}" type="slidenum">
              <a: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Haz clic para modificar el estilo de título del patrón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52" name="Rectángulo 7"/>
          <p:cNvSpPr/>
          <p:nvPr/>
        </p:nvSpPr>
        <p:spPr>
          <a:xfrm>
            <a:off x="0" y="6440400"/>
            <a:ext cx="12191760" cy="417240"/>
          </a:xfrm>
          <a:prstGeom prst="rect">
            <a:avLst/>
          </a:prstGeom>
          <a:solidFill>
            <a:srgbClr val="25204E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M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10"/>
          </p:nvPr>
        </p:nvSpPr>
        <p:spPr>
          <a:xfrm>
            <a:off x="10525680" y="6466680"/>
            <a:ext cx="8280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808337-9479-44EB-A4DD-AED4092A89CC}" type="slidenum">
              <a:rPr lang="es-MX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" name="Imagen 9"/>
          <p:cNvPicPr/>
          <p:nvPr/>
        </p:nvPicPr>
        <p:blipFill>
          <a:blip r:embed="rId2"/>
          <a:stretch/>
        </p:blipFill>
        <p:spPr>
          <a:xfrm>
            <a:off x="10939680" y="5674680"/>
            <a:ext cx="348120" cy="343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21160" y="2755800"/>
            <a:ext cx="10559160" cy="134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4000" b="1" u="none" strike="noStrike">
                <a:solidFill>
                  <a:srgbClr val="00B0F0"/>
                </a:solidFill>
                <a:effectLst/>
                <a:uFillTx/>
                <a:latin typeface="R-Flex Black"/>
              </a:rPr>
              <a:t>devTask</a:t>
            </a:r>
            <a:r>
              <a:rPr lang="es-ES" sz="4400" b="1" u="none" strike="noStrike">
                <a:solidFill>
                  <a:srgbClr val="00B0F0"/>
                </a:solidFill>
                <a:effectLst/>
                <a:uFillTx/>
                <a:latin typeface="R-Flex Black"/>
              </a:rPr>
              <a:t> – Gestor de tareas implementado en .NET Core 8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1523880" y="475848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rgbClr val="002060"/>
                </a:solidFill>
                <a:effectLst/>
                <a:uFillTx/>
                <a:latin typeface="R-Flex Black"/>
              </a:rPr>
              <a:t>Sergio Orion Huerta Martinez</a:t>
            </a:r>
            <a:endParaRPr lang="es-MX" sz="36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rgbClr val="002060"/>
                </a:solidFill>
                <a:effectLst/>
                <a:uFillTx/>
                <a:latin typeface="R-Flex Black"/>
              </a:rPr>
              <a:t>Arquitectura de Software – 30 de junio de 2026</a:t>
            </a:r>
            <a:endParaRPr lang="es-MX" sz="36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s-MX" sz="32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Introducción 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38080" y="15120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3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Permite administrar flujos de trabajo mediante un tablero Kanban. Implementa una separación estricta de responsabilidades en el backend y un frontend dinámico que consume servicios RESTful. </a:t>
            </a:r>
            <a:endParaRPr lang="es-MX" sz="3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s-MX" sz="3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Resuelve la complejidad de integrar interfaces web con bases de datos relacionales, demostrando un flujo de datos limpio y mantenible</a:t>
            </a:r>
            <a:endParaRPr lang="es-MX" sz="3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9934FC-5D89-4888-B6C8-146C437E1F9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s-MX" sz="32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Antecedentes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s-MX" sz="3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Las herramientas de gestión suelen ser monolíticas o altamente acopladas, lo que dificulta su escalabilidad.</a:t>
            </a:r>
            <a:endParaRPr lang="es-MX" sz="3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s-MX" sz="3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Se seleccionó este proyecto porque el modelo Kanban (Por Hacer, En Proceso, Realizado) ofrece las operaciones de base de datos perfectas (CRUD y transiciones de estado) para poner a prueba una arquitectura estructurada en .NET Core. </a:t>
            </a:r>
            <a:endParaRPr lang="es-MX" sz="3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6E075C-67EB-454F-A4E4-DB355BD5C147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s-MX" sz="32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Objetivo 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s-MX" sz="3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Desarrollar una aplicación web para la gestión de tareas basada en la metodología Kanban, utilizando ASP.NET Core bajo una arquitectura de 3 capas, implementando buenas prácticas de desarrollo (patrón repositorio y DTOs) y un frontend desacoplado para asegurar la escalabilidad del sistema.</a:t>
            </a:r>
            <a:endParaRPr lang="es-MX" sz="3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91CD26-ADD8-484F-8F3E-6DCB29141E9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s-MX" sz="36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Problemáticas </a:t>
            </a:r>
            <a:endParaRPr lang="es-MX" sz="36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64" name="Marcador de contenido 2"/>
          <p:cNvSpPr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s-MX" sz="3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Alto acoplamiento: El diseño de software tradicional a menudo mezcla la lógica de acceso a datos con las vistas, dificultando el mantenimiento. </a:t>
            </a:r>
            <a:endParaRPr lang="es-MX" sz="3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s-MX" sz="3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Escalabilidad limitada: Sin una separación de capas, agregar nuevas interfaces (como una app móvil) requiere reescribir la lógica de negocio. </a:t>
            </a:r>
            <a:endParaRPr lang="es-MX" sz="3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s-MX" sz="3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Gestión de estado: Dificultad para mantener la sincronía en tiempo real del estado de una tarea entre la interfaz del usuario y la base de datos de manera eficiente.</a:t>
            </a:r>
            <a:endParaRPr lang="es-MX" sz="3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algn="just" defTabSz="914400">
              <a:lnSpc>
                <a:spcPct val="90000"/>
              </a:lnSpc>
              <a:spcBef>
                <a:spcPts val="1001"/>
              </a:spcBef>
            </a:pPr>
            <a:endParaRPr lang="es-MX" sz="3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C47FD7B-4E3F-44D4-B8FA-0BA6A19551C3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s-MX" sz="32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Justificación 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s-MX" sz="3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Importancia: El proyecto materializa los conceptos teóricos de arquitectura de software en un producto funcional, demostrando competencias altamente demandadas en la industria. </a:t>
            </a:r>
            <a:endParaRPr lang="es-MX" sz="3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s-MX" sz="3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Impacto técnico y profesional: Sirve como una plantilla base escalable que puede ser reutilizada para proyectos empresariales más grandes, reduciendo tiempos de desarrollo futuros. </a:t>
            </a:r>
            <a:endParaRPr lang="es-MX" sz="3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s-MX" sz="30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Relación técnica: Se alinea con los estándares actuales de la industria del software para el desarrollo de APIs robustas. </a:t>
            </a:r>
            <a:endParaRPr lang="es-MX" sz="3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s-MX" sz="30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288455-980A-4545-A555-54BD699CF511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s-MX" sz="32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Capturas del proyecto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pic>
        <p:nvPicPr>
          <p:cNvPr id="68" name=""/>
          <p:cNvPicPr/>
          <p:nvPr/>
        </p:nvPicPr>
        <p:blipFill>
          <a:blip r:embed="rId1"/>
          <a:stretch/>
        </p:blipFill>
        <p:spPr>
          <a:xfrm>
            <a:off x="838080" y="1595160"/>
            <a:ext cx="870192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226680-6424-48A2-B352-90D63F49089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s-MX" sz="32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Capturas del proyecto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901440" y="1670040"/>
            <a:ext cx="8638560" cy="464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3FE57AA-4B1A-46B8-9D90-9E45255AF995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82000" y="3585600"/>
            <a:ext cx="1041768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4400" b="1" u="none" strike="noStrike">
                <a:solidFill>
                  <a:srgbClr val="00B0F0"/>
                </a:solidFill>
                <a:effectLst/>
                <a:uFillTx/>
                <a:latin typeface="R-Flex Black"/>
              </a:rPr>
              <a:t>devTask – Gestor de Tareas implementado en .NET core 8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520280" y="5163840"/>
            <a:ext cx="9143640" cy="7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rgbClr val="002060"/>
                </a:solidFill>
                <a:effectLst/>
                <a:uFillTx/>
                <a:latin typeface="Montserrat"/>
              </a:rPr>
              <a:t>Sergio Orion Huerta Martinez</a:t>
            </a:r>
            <a:endParaRPr lang="es-MX" sz="36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73" name="Título 1"/>
          <p:cNvSpPr/>
          <p:nvPr/>
        </p:nvSpPr>
        <p:spPr>
          <a:xfrm>
            <a:off x="340200" y="2024640"/>
            <a:ext cx="11504880" cy="11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ctr" defTabSz="914400">
              <a:lnSpc>
                <a:spcPct val="90000"/>
              </a:lnSpc>
            </a:pPr>
            <a:r>
              <a:rPr lang="es-ES" sz="5400" b="1" u="none" strike="noStrike">
                <a:solidFill>
                  <a:srgbClr val="002060"/>
                </a:solidFill>
                <a:effectLst/>
                <a:uFillTx/>
                <a:latin typeface="R-Flex Black"/>
              </a:rPr>
              <a:t>Gracias por su atención </a:t>
            </a:r>
            <a:endParaRPr lang="es-MX" sz="5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918E96E069ED34AAD5EF7C55416FFCB" ma:contentTypeVersion="11" ma:contentTypeDescription="Crear nuevo documento." ma:contentTypeScope="" ma:versionID="68732e037d908299184267b51a638db7">
  <xsd:schema xmlns:xsd="http://www.w3.org/2001/XMLSchema" xmlns:xs="http://www.w3.org/2001/XMLSchema" xmlns:p="http://schemas.microsoft.com/office/2006/metadata/properties" xmlns:ns2="d866ad0b-e154-425f-867f-bb8984c7e093" xmlns:ns3="87c95ca0-5fb6-408b-a7b8-ea5fb561ae11" targetNamespace="http://schemas.microsoft.com/office/2006/metadata/properties" ma:root="true" ma:fieldsID="7d14b18ac0084206d215d9008ccc7fe0" ns2:_="" ns3:_="">
    <xsd:import namespace="d866ad0b-e154-425f-867f-bb8984c7e093"/>
    <xsd:import namespace="87c95ca0-5fb6-408b-a7b8-ea5fb561ae11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66ad0b-e154-425f-867f-bb8984c7e093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72911d82-c88e-48a9-ac58-a3444eab15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c95ca0-5fb6-408b-a7b8-ea5fb561ae11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bdd0d73-ac54-458a-87ca-0a0ead1e4c36}" ma:internalName="TaxCatchAll" ma:showField="CatchAllData" ma:web="87c95ca0-5fb6-408b-a7b8-ea5fb561ae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d866ad0b-e154-425f-867f-bb8984c7e093" xsi:nil="true"/>
    <lcf76f155ced4ddcb4097134ff3c332f xmlns="d866ad0b-e154-425f-867f-bb8984c7e093">
      <Terms xmlns="http://schemas.microsoft.com/office/infopath/2007/PartnerControls"/>
    </lcf76f155ced4ddcb4097134ff3c332f>
    <TaxCatchAll xmlns="87c95ca0-5fb6-408b-a7b8-ea5fb561ae1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5FF067-30B9-4E86-AAE9-6CCDCAB3D6B3}"/>
</file>

<file path=customXml/itemProps2.xml><?xml version="1.0" encoding="utf-8"?>
<ds:datastoreItem xmlns:ds="http://schemas.openxmlformats.org/officeDocument/2006/customXml" ds:itemID="{287F3AC1-ED53-46E9-9623-9D5364320D75}">
  <ds:schemaRefs>
    <ds:schemaRef ds:uri="http://schemas.microsoft.com/office/2006/documentManagement/types"/>
    <ds:schemaRef ds:uri="http://purl.org/dc/terms/"/>
    <ds:schemaRef ds:uri="e74b9947-324c-47a7-a644-59e459d1e625"/>
    <ds:schemaRef ds:uri="http://purl.org/dc/elements/1.1/"/>
    <ds:schemaRef ds:uri="99da6aff-ed46-4077-b37a-591714f0b7af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F35E50E-8F65-415E-94AF-9E6516FD17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7</TotalTime>
  <Application>LibreOffice/26.2.4.2$Linux_X86_64 LibreOffice_project/620$Build-2</Application>
  <AppVersion>15.0000</AppVersion>
  <Words>298</Words>
  <Paragraphs>36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2023-09-03T22:38:37Z</dcterms:created>
  <dc:creator>Eduardo Espadas Aldana</dc:creator>
  <dc:description/>
  <dc:language>es-MX</dc:language>
  <cp:lastModifiedBy/>
  <dcterms:modified xsi:type="dcterms:W3CDTF">2026-06-30T02:26:11Z</dcterms:modified>
  <cp:revision>105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0x0101006918E96E069ED34AAD5EF7C55416FFCB</vt:lpwstr>
  </property>
  <property fmtid="{D5CDD505-2E9C-101B-9397-08002B2CF9AE}" pid="4" name="MediaServiceImageTags">
    <vt:lpwstr/>
  </property>
  <property fmtid="{D5CDD505-2E9C-101B-9397-08002B2CF9AE}" pid="5" name="PresentationFormat">
    <vt:lpwstr>Widescreen</vt:lpwstr>
  </property>
  <property fmtid="{D5CDD505-2E9C-101B-9397-08002B2CF9AE}" pid="6" name="Slides">
    <vt:i4>8</vt:i4>
  </property>
  <property fmtid="{D5CDD505-2E9C-101B-9397-08002B2CF9AE}" pid="7" name="TemplateUrl">
    <vt:lpwstr/>
  </property>
  <property fmtid="{D5CDD505-2E9C-101B-9397-08002B2CF9AE}" pid="8" name="TriggerFlowInfo">
    <vt:lpwstr/>
  </property>
  <property fmtid="{D5CDD505-2E9C-101B-9397-08002B2CF9AE}" pid="9" name="_ExtendedDescription">
    <vt:lpwstr/>
  </property>
  <property fmtid="{D5CDD505-2E9C-101B-9397-08002B2CF9AE}" pid="10" name="_SharedFileIndex">
    <vt:lpwstr/>
  </property>
  <property fmtid="{D5CDD505-2E9C-101B-9397-08002B2CF9AE}" pid="11" name="_SourceUrl">
    <vt:lpwstr/>
  </property>
  <property fmtid="{D5CDD505-2E9C-101B-9397-08002B2CF9AE}" pid="12" name="_dlc_DocIdItemGuid">
    <vt:lpwstr>dc5a4ab1-a40f-471b-8a05-679ca19ffb9b</vt:lpwstr>
  </property>
  <property fmtid="{D5CDD505-2E9C-101B-9397-08002B2CF9AE}" pid="13" name="xd_ProgID">
    <vt:lpwstr/>
  </property>
  <property fmtid="{D5CDD505-2E9C-101B-9397-08002B2CF9AE}" pid="14" name="xd_Signature">
    <vt:bool>0</vt:bool>
  </property>
</Properties>
</file>