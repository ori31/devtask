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Arimo Bold" charset="1" panose="020B0704020202020204"/>
      <p:regular r:id="rId11"/>
    </p:embeddedFont>
    <p:embeddedFont>
      <p:font typeface="Arimo" charset="1" panose="020B0604020202020204"/>
      <p:regular r:id="rId12"/>
    </p:embeddedFont>
    <p:embeddedFont>
      <p:font typeface="Montserrat Bold" charset="1" panose="00000800000000000000"/>
      <p:regular r:id="rId13"/>
    </p:embeddedFont>
    <p:embeddedFont>
      <p:font typeface="Montserrat" charset="1" panose="00000500000000000000"/>
      <p:regular r:id="rId14"/>
    </p:embeddedFont>
    <p:embeddedFont>
      <p:font typeface="Calibri (MS)" charset="1" panose="020F05020202040302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jpeg" Type="http://schemas.openxmlformats.org/officeDocument/2006/relationships/image"/><Relationship Id="rId4" Target="../media/image4.jpeg" Type="http://schemas.openxmlformats.org/officeDocument/2006/relationships/image"/><Relationship Id="rId5" Target="../media/VAHOCBHcepY.mp4" Type="http://schemas.openxmlformats.org/officeDocument/2006/relationships/video"/><Relationship Id="rId6" Target="../media/VAHOCBHcepY.mp4" Type="http://schemas.microsoft.com/office/2007/relationships/media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9651073"/>
            <a:ext cx="18306688" cy="644909"/>
            <a:chOff x="0" y="0"/>
            <a:chExt cx="24408917" cy="8598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892" cy="859917"/>
            </a:xfrm>
            <a:custGeom>
              <a:avLst/>
              <a:gdLst/>
              <a:ahLst/>
              <a:cxnLst/>
              <a:rect r="r" b="b" t="t" l="l"/>
              <a:pathLst>
                <a:path h="859917" w="24408892">
                  <a:moveTo>
                    <a:pt x="0" y="0"/>
                  </a:moveTo>
                  <a:lnTo>
                    <a:pt x="24408892" y="0"/>
                  </a:lnTo>
                  <a:lnTo>
                    <a:pt x="24408892" y="859917"/>
                  </a:lnTo>
                  <a:lnTo>
                    <a:pt x="0" y="859917"/>
                  </a:lnTo>
                  <a:close/>
                </a:path>
              </a:pathLst>
            </a:custGeom>
            <a:solidFill>
              <a:srgbClr val="25204E"/>
            </a:solidFill>
            <a:ln w="19050" cap="sq">
              <a:solidFill>
                <a:srgbClr val="00206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257119" y="465477"/>
            <a:ext cx="2802064" cy="2802064"/>
            <a:chOff x="0" y="0"/>
            <a:chExt cx="3736086" cy="373608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36086" cy="3736086"/>
            </a:xfrm>
            <a:custGeom>
              <a:avLst/>
              <a:gdLst/>
              <a:ahLst/>
              <a:cxnLst/>
              <a:rect r="r" b="b" t="t" l="l"/>
              <a:pathLst>
                <a:path h="3736086" w="3736086">
                  <a:moveTo>
                    <a:pt x="0" y="0"/>
                  </a:moveTo>
                  <a:lnTo>
                    <a:pt x="3736086" y="0"/>
                  </a:lnTo>
                  <a:lnTo>
                    <a:pt x="3736086" y="3736086"/>
                  </a:lnTo>
                  <a:lnTo>
                    <a:pt x="0" y="37360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31744" y="4133698"/>
            <a:ext cx="15838742" cy="2017976"/>
            <a:chOff x="0" y="0"/>
            <a:chExt cx="21118322" cy="269063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118320" cy="2690640"/>
            </a:xfrm>
            <a:custGeom>
              <a:avLst/>
              <a:gdLst/>
              <a:ahLst/>
              <a:cxnLst/>
              <a:rect r="r" b="b" t="t" l="l"/>
              <a:pathLst>
                <a:path h="2690640" w="21118320">
                  <a:moveTo>
                    <a:pt x="0" y="0"/>
                  </a:moveTo>
                  <a:lnTo>
                    <a:pt x="21118320" y="0"/>
                  </a:lnTo>
                  <a:lnTo>
                    <a:pt x="21118320" y="2690640"/>
                  </a:lnTo>
                  <a:lnTo>
                    <a:pt x="0" y="2690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934" r="0" b="-102934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38100"/>
              <a:ext cx="21118322" cy="265253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7128"/>
                </a:lnSpc>
              </a:pPr>
              <a:r>
                <a:rPr lang="en-US" sz="6600" b="true">
                  <a:solidFill>
                    <a:srgbClr val="00B0F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devTask – Gestor de tareas implementado en .NET Core 8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377259" y="7269166"/>
            <a:ext cx="13532577" cy="230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48"/>
              </a:lnSpc>
            </a:pPr>
            <a:r>
              <a:rPr lang="en-US" sz="5400">
                <a:solidFill>
                  <a:srgbClr val="002060"/>
                </a:solidFill>
                <a:latin typeface="Arimo"/>
                <a:ea typeface="Arimo"/>
                <a:cs typeface="Arimo"/>
                <a:sym typeface="Arimo"/>
              </a:rPr>
              <a:t>Sergio Orion Huerta Martinez</a:t>
            </a:r>
          </a:p>
          <a:p>
            <a:pPr algn="ctr">
              <a:lnSpc>
                <a:spcPts val="5248"/>
              </a:lnSpc>
            </a:pPr>
            <a:r>
              <a:rPr lang="en-US" sz="5400">
                <a:solidFill>
                  <a:srgbClr val="002060"/>
                </a:solidFill>
                <a:latin typeface="Arimo"/>
                <a:ea typeface="Arimo"/>
                <a:cs typeface="Arimo"/>
                <a:sym typeface="Arimo"/>
              </a:rPr>
              <a:t>Arquitectura de Software – 30 de junio de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9651073"/>
            <a:ext cx="18306688" cy="644909"/>
            <a:chOff x="0" y="0"/>
            <a:chExt cx="24408917" cy="8598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892" cy="859917"/>
            </a:xfrm>
            <a:custGeom>
              <a:avLst/>
              <a:gdLst/>
              <a:ahLst/>
              <a:cxnLst/>
              <a:rect r="r" b="b" t="t" l="l"/>
              <a:pathLst>
                <a:path h="859917" w="24408892">
                  <a:moveTo>
                    <a:pt x="0" y="0"/>
                  </a:moveTo>
                  <a:lnTo>
                    <a:pt x="24408892" y="0"/>
                  </a:lnTo>
                  <a:lnTo>
                    <a:pt x="24408892" y="859917"/>
                  </a:lnTo>
                  <a:lnTo>
                    <a:pt x="0" y="859917"/>
                  </a:lnTo>
                  <a:close/>
                </a:path>
              </a:pathLst>
            </a:custGeom>
            <a:solidFill>
              <a:srgbClr val="25204E"/>
            </a:solidFill>
            <a:ln w="19050" cap="sq">
              <a:solidFill>
                <a:srgbClr val="00206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409518" y="8512016"/>
            <a:ext cx="522180" cy="515160"/>
            <a:chOff x="0" y="0"/>
            <a:chExt cx="696239" cy="6868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96214" cy="686943"/>
            </a:xfrm>
            <a:custGeom>
              <a:avLst/>
              <a:gdLst/>
              <a:ahLst/>
              <a:cxnLst/>
              <a:rect r="r" b="b" t="t" l="l"/>
              <a:pathLst>
                <a:path h="686943" w="696214">
                  <a:moveTo>
                    <a:pt x="0" y="0"/>
                  </a:moveTo>
                  <a:lnTo>
                    <a:pt x="696214" y="0"/>
                  </a:lnTo>
                  <a:lnTo>
                    <a:pt x="696214" y="686943"/>
                  </a:lnTo>
                  <a:lnTo>
                    <a:pt x="0" y="6869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4" t="0" r="-20" b="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7119" y="547564"/>
            <a:ext cx="15772857" cy="1987744"/>
            <a:chOff x="0" y="0"/>
            <a:chExt cx="21030476" cy="26503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030481" cy="2650320"/>
            </a:xfrm>
            <a:custGeom>
              <a:avLst/>
              <a:gdLst/>
              <a:ahLst/>
              <a:cxnLst/>
              <a:rect r="r" b="b" t="t" l="l"/>
              <a:pathLst>
                <a:path h="2650320" w="21030481">
                  <a:moveTo>
                    <a:pt x="0" y="0"/>
                  </a:moveTo>
                  <a:lnTo>
                    <a:pt x="21030481" y="0"/>
                  </a:lnTo>
                  <a:lnTo>
                    <a:pt x="21030481" y="2650320"/>
                  </a:lnTo>
                  <a:lnTo>
                    <a:pt x="0" y="265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615" r="0" b="-10461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66675"/>
              <a:ext cx="21030476" cy="2583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sz="48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Introducción 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8559" y="2370868"/>
            <a:ext cx="15589977" cy="6377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14388" indent="-407194" lvl="1">
              <a:lnSpc>
                <a:spcPts val="4860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Permite administrar flujos de trabajo mediante un tablero Kanban. Implementa una separación estricta de responsabilidades en el backend y un frontend dinámico que consume servicios RESTful. </a:t>
            </a:r>
          </a:p>
          <a:p>
            <a:pPr algn="just" marL="814388" indent="-407194" lvl="1">
              <a:lnSpc>
                <a:spcPts val="4860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Resuelve la complejidad de integrar interfaces web con bases de datos relacionales, demostrando un flujo de datos limpio y mantenible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5788516" y="9700022"/>
            <a:ext cx="1242003" cy="547021"/>
            <a:chOff x="0" y="0"/>
            <a:chExt cx="1656004" cy="72936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56000" cy="729360"/>
            </a:xfrm>
            <a:custGeom>
              <a:avLst/>
              <a:gdLst/>
              <a:ahLst/>
              <a:cxnLst/>
              <a:rect r="r" b="b" t="t" l="l"/>
              <a:pathLst>
                <a:path h="729360" w="1656000">
                  <a:moveTo>
                    <a:pt x="0" y="0"/>
                  </a:moveTo>
                  <a:lnTo>
                    <a:pt x="1656000" y="0"/>
                  </a:lnTo>
                  <a:lnTo>
                    <a:pt x="1656000" y="729360"/>
                  </a:lnTo>
                  <a:lnTo>
                    <a:pt x="0" y="729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509" t="0" r="-6509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656004" cy="7674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9651073"/>
            <a:ext cx="18306688" cy="644909"/>
            <a:chOff x="0" y="0"/>
            <a:chExt cx="24408917" cy="8598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892" cy="859917"/>
            </a:xfrm>
            <a:custGeom>
              <a:avLst/>
              <a:gdLst/>
              <a:ahLst/>
              <a:cxnLst/>
              <a:rect r="r" b="b" t="t" l="l"/>
              <a:pathLst>
                <a:path h="859917" w="24408892">
                  <a:moveTo>
                    <a:pt x="0" y="0"/>
                  </a:moveTo>
                  <a:lnTo>
                    <a:pt x="24408892" y="0"/>
                  </a:lnTo>
                  <a:lnTo>
                    <a:pt x="24408892" y="859917"/>
                  </a:lnTo>
                  <a:lnTo>
                    <a:pt x="0" y="859917"/>
                  </a:lnTo>
                  <a:close/>
                </a:path>
              </a:pathLst>
            </a:custGeom>
            <a:solidFill>
              <a:srgbClr val="25204E"/>
            </a:solidFill>
            <a:ln w="19050" cap="sq">
              <a:solidFill>
                <a:srgbClr val="00206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409518" y="8512016"/>
            <a:ext cx="522180" cy="515160"/>
            <a:chOff x="0" y="0"/>
            <a:chExt cx="696239" cy="6868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96214" cy="686943"/>
            </a:xfrm>
            <a:custGeom>
              <a:avLst/>
              <a:gdLst/>
              <a:ahLst/>
              <a:cxnLst/>
              <a:rect r="r" b="b" t="t" l="l"/>
              <a:pathLst>
                <a:path h="686943" w="696214">
                  <a:moveTo>
                    <a:pt x="0" y="0"/>
                  </a:moveTo>
                  <a:lnTo>
                    <a:pt x="696214" y="0"/>
                  </a:lnTo>
                  <a:lnTo>
                    <a:pt x="696214" y="686943"/>
                  </a:lnTo>
                  <a:lnTo>
                    <a:pt x="0" y="6869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4" t="0" r="-20" b="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7119" y="547564"/>
            <a:ext cx="15772857" cy="1987740"/>
            <a:chOff x="0" y="0"/>
            <a:chExt cx="21030476" cy="26503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030481" cy="2650315"/>
            </a:xfrm>
            <a:custGeom>
              <a:avLst/>
              <a:gdLst/>
              <a:ahLst/>
              <a:cxnLst/>
              <a:rect r="r" b="b" t="t" l="l"/>
              <a:pathLst>
                <a:path h="2650315" w="21030481">
                  <a:moveTo>
                    <a:pt x="0" y="0"/>
                  </a:moveTo>
                  <a:lnTo>
                    <a:pt x="21030481" y="0"/>
                  </a:lnTo>
                  <a:lnTo>
                    <a:pt x="21030481" y="2650315"/>
                  </a:lnTo>
                  <a:lnTo>
                    <a:pt x="0" y="26503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615" r="0" b="-10461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66675"/>
              <a:ext cx="21030476" cy="2583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sz="48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Estado de la unidad 1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8559" y="2841212"/>
            <a:ext cx="15589977" cy="4888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14388" indent="-407194" lvl="1">
              <a:lnSpc>
                <a:spcPts val="4860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Definición de Arquitectura: Se estableció el patrón de diseño de 3 capas (Application, Infrastructure, Domain), definiendo la separación de responsabilidades desde el código base.</a:t>
            </a:r>
          </a:p>
          <a:p>
            <a:pPr algn="just" marL="814388" indent="-407194" lvl="1">
              <a:lnSpc>
                <a:spcPts val="4860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Modelado de Dominio: Identificación de las entidades principales y sus reglas de negocio.</a:t>
            </a:r>
          </a:p>
          <a:p>
            <a:pPr algn="just" marL="814388" indent="-407194" lvl="1">
              <a:lnSpc>
                <a:spcPts val="4860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Análisis de Requerimientos: Definición de los casos de uso básicos para el flujo de tareas.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5788516" y="9700022"/>
            <a:ext cx="1242003" cy="547021"/>
            <a:chOff x="0" y="0"/>
            <a:chExt cx="1656004" cy="72936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56000" cy="729360"/>
            </a:xfrm>
            <a:custGeom>
              <a:avLst/>
              <a:gdLst/>
              <a:ahLst/>
              <a:cxnLst/>
              <a:rect r="r" b="b" t="t" l="l"/>
              <a:pathLst>
                <a:path h="729360" w="1656000">
                  <a:moveTo>
                    <a:pt x="0" y="0"/>
                  </a:moveTo>
                  <a:lnTo>
                    <a:pt x="1656000" y="0"/>
                  </a:lnTo>
                  <a:lnTo>
                    <a:pt x="1656000" y="729360"/>
                  </a:lnTo>
                  <a:lnTo>
                    <a:pt x="0" y="729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509" t="0" r="-6509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656004" cy="7674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9651073"/>
            <a:ext cx="18306688" cy="644909"/>
            <a:chOff x="0" y="0"/>
            <a:chExt cx="24408917" cy="8598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892" cy="859917"/>
            </a:xfrm>
            <a:custGeom>
              <a:avLst/>
              <a:gdLst/>
              <a:ahLst/>
              <a:cxnLst/>
              <a:rect r="r" b="b" t="t" l="l"/>
              <a:pathLst>
                <a:path h="859917" w="24408892">
                  <a:moveTo>
                    <a:pt x="0" y="0"/>
                  </a:moveTo>
                  <a:lnTo>
                    <a:pt x="24408892" y="0"/>
                  </a:lnTo>
                  <a:lnTo>
                    <a:pt x="24408892" y="859917"/>
                  </a:lnTo>
                  <a:lnTo>
                    <a:pt x="0" y="859917"/>
                  </a:lnTo>
                  <a:close/>
                </a:path>
              </a:pathLst>
            </a:custGeom>
            <a:solidFill>
              <a:srgbClr val="25204E"/>
            </a:solidFill>
            <a:ln w="19050" cap="sq">
              <a:solidFill>
                <a:srgbClr val="00206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409518" y="8512016"/>
            <a:ext cx="522180" cy="515160"/>
            <a:chOff x="0" y="0"/>
            <a:chExt cx="696239" cy="6868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96214" cy="686943"/>
            </a:xfrm>
            <a:custGeom>
              <a:avLst/>
              <a:gdLst/>
              <a:ahLst/>
              <a:cxnLst/>
              <a:rect r="r" b="b" t="t" l="l"/>
              <a:pathLst>
                <a:path h="686943" w="696214">
                  <a:moveTo>
                    <a:pt x="0" y="0"/>
                  </a:moveTo>
                  <a:lnTo>
                    <a:pt x="696214" y="0"/>
                  </a:lnTo>
                  <a:lnTo>
                    <a:pt x="696214" y="686943"/>
                  </a:lnTo>
                  <a:lnTo>
                    <a:pt x="0" y="6869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4" t="0" r="-20" b="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9824" y="547564"/>
            <a:ext cx="15772857" cy="1987740"/>
            <a:chOff x="0" y="0"/>
            <a:chExt cx="21030476" cy="26503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030481" cy="2650315"/>
            </a:xfrm>
            <a:custGeom>
              <a:avLst/>
              <a:gdLst/>
              <a:ahLst/>
              <a:cxnLst/>
              <a:rect r="r" b="b" t="t" l="l"/>
              <a:pathLst>
                <a:path h="2650315" w="21030481">
                  <a:moveTo>
                    <a:pt x="0" y="0"/>
                  </a:moveTo>
                  <a:lnTo>
                    <a:pt x="21030481" y="0"/>
                  </a:lnTo>
                  <a:lnTo>
                    <a:pt x="21030481" y="2650315"/>
                  </a:lnTo>
                  <a:lnTo>
                    <a:pt x="0" y="26503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615" r="0" b="-10461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57150"/>
              <a:ext cx="21030476" cy="2593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832"/>
                </a:lnSpc>
              </a:pPr>
              <a:r>
                <a:rPr lang="en-US" sz="54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Prototipo del proyecto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906537" y="9660598"/>
            <a:ext cx="4114257" cy="547021"/>
            <a:chOff x="0" y="0"/>
            <a:chExt cx="5485676" cy="72936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85680" cy="729360"/>
            </a:xfrm>
            <a:custGeom>
              <a:avLst/>
              <a:gdLst/>
              <a:ahLst/>
              <a:cxnLst/>
              <a:rect r="r" b="b" t="t" l="l"/>
              <a:pathLst>
                <a:path h="729360" w="5485680">
                  <a:moveTo>
                    <a:pt x="0" y="0"/>
                  </a:moveTo>
                  <a:lnTo>
                    <a:pt x="5485680" y="0"/>
                  </a:lnTo>
                  <a:lnTo>
                    <a:pt x="5485680" y="729360"/>
                  </a:lnTo>
                  <a:lnTo>
                    <a:pt x="0" y="729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551" r="0" b="-9655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485676" cy="7674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  <p:pic>
        <p:nvPicPr>
          <p:cNvPr name="Picture 12" id="12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2518557" y="2284161"/>
            <a:ext cx="13551262" cy="7166391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9651073"/>
            <a:ext cx="18306688" cy="644909"/>
            <a:chOff x="0" y="0"/>
            <a:chExt cx="24408917" cy="8598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892" cy="859917"/>
            </a:xfrm>
            <a:custGeom>
              <a:avLst/>
              <a:gdLst/>
              <a:ahLst/>
              <a:cxnLst/>
              <a:rect r="r" b="b" t="t" l="l"/>
              <a:pathLst>
                <a:path h="859917" w="24408892">
                  <a:moveTo>
                    <a:pt x="0" y="0"/>
                  </a:moveTo>
                  <a:lnTo>
                    <a:pt x="24408892" y="0"/>
                  </a:lnTo>
                  <a:lnTo>
                    <a:pt x="24408892" y="859917"/>
                  </a:lnTo>
                  <a:lnTo>
                    <a:pt x="0" y="859917"/>
                  </a:lnTo>
                  <a:close/>
                </a:path>
              </a:pathLst>
            </a:custGeom>
            <a:solidFill>
              <a:srgbClr val="25204E"/>
            </a:solidFill>
            <a:ln w="19050" cap="sq">
              <a:solidFill>
                <a:srgbClr val="00206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257119" y="465477"/>
            <a:ext cx="2802064" cy="2802064"/>
            <a:chOff x="0" y="0"/>
            <a:chExt cx="3736086" cy="373608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36086" cy="3736086"/>
            </a:xfrm>
            <a:custGeom>
              <a:avLst/>
              <a:gdLst/>
              <a:ahLst/>
              <a:cxnLst/>
              <a:rect r="r" b="b" t="t" l="l"/>
              <a:pathLst>
                <a:path h="3736086" w="3736086">
                  <a:moveTo>
                    <a:pt x="0" y="0"/>
                  </a:moveTo>
                  <a:lnTo>
                    <a:pt x="3736086" y="0"/>
                  </a:lnTo>
                  <a:lnTo>
                    <a:pt x="3736086" y="3736086"/>
                  </a:lnTo>
                  <a:lnTo>
                    <a:pt x="0" y="37360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23003" y="5378396"/>
            <a:ext cx="15626524" cy="1717196"/>
            <a:chOff x="0" y="0"/>
            <a:chExt cx="20835366" cy="228959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835361" cy="2289600"/>
            </a:xfrm>
            <a:custGeom>
              <a:avLst/>
              <a:gdLst/>
              <a:ahLst/>
              <a:cxnLst/>
              <a:rect r="r" b="b" t="t" l="l"/>
              <a:pathLst>
                <a:path h="2289600" w="20835361">
                  <a:moveTo>
                    <a:pt x="0" y="0"/>
                  </a:moveTo>
                  <a:lnTo>
                    <a:pt x="20835361" y="0"/>
                  </a:lnTo>
                  <a:lnTo>
                    <a:pt x="20835361" y="2289600"/>
                  </a:lnTo>
                  <a:lnTo>
                    <a:pt x="0" y="228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314" r="0" b="-12731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104775"/>
              <a:ext cx="20835366" cy="2184819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934"/>
                </a:lnSpc>
              </a:pPr>
              <a:r>
                <a:rPr lang="en-US" sz="6105" b="true">
                  <a:solidFill>
                    <a:srgbClr val="00B0F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devTask – Gestor de Tareas implementado en .NET core 8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371858" y="7848629"/>
            <a:ext cx="13532577" cy="940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2"/>
              </a:lnSpc>
            </a:pPr>
            <a:r>
              <a:rPr lang="en-US" sz="54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Sergio Orion Huerta Martinez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10302" y="3036961"/>
            <a:ext cx="17257319" cy="1717196"/>
            <a:chOff x="0" y="0"/>
            <a:chExt cx="23009758" cy="228959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009760" cy="2289600"/>
            </a:xfrm>
            <a:custGeom>
              <a:avLst/>
              <a:gdLst/>
              <a:ahLst/>
              <a:cxnLst/>
              <a:rect r="r" b="b" t="t" l="l"/>
              <a:pathLst>
                <a:path h="2289600" w="23009760">
                  <a:moveTo>
                    <a:pt x="0" y="0"/>
                  </a:moveTo>
                  <a:lnTo>
                    <a:pt x="23009760" y="0"/>
                  </a:lnTo>
                  <a:lnTo>
                    <a:pt x="23009760" y="2289600"/>
                  </a:lnTo>
                  <a:lnTo>
                    <a:pt x="0" y="228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5818" r="0" b="-14581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66675"/>
              <a:ext cx="23009758" cy="2222919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8748"/>
                </a:lnSpc>
              </a:pPr>
              <a:r>
                <a:rPr lang="en-US" sz="8100" b="true">
                  <a:solidFill>
                    <a:srgbClr val="00206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Gracias por su atención 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DAHOCFcpIno</dc:identifier>
  <dcterms:modified xsi:type="dcterms:W3CDTF">2011-08-01T06:04:30Z</dcterms:modified>
  <cp:revision>1</cp:revision>
  <dc:title>Presentaciones.pptx</dc:title>
</cp:coreProperties>
</file>